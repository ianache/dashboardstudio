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67" r:id="rId4"/>
    <p:sldId id="268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2" r:id="rId16"/>
    <p:sldId id="271" r:id="rId17"/>
    <p:sldId id="270" r:id="rId1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1F26"/>
    <a:srgbClr val="0F0F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04A2D-ACA8-4685-82C8-6D8F13AB90D5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90F8B-E8B4-4CDA-A89F-01E666E2DE8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275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DE11A-E429-44FD-AAF0-C3FF8BF45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6148" y="1264513"/>
            <a:ext cx="9144000" cy="2387600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D93E0F-AC7F-4741-8464-0BF383FCA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6148" y="374418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F01984-8D1C-448F-A4AA-E34EF108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AB1FFA-4700-4E69-9F54-244F038A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5E03E-BE36-41B8-89E5-9810090A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A7EA7E8-CAA8-4832-98FD-D7DA2043EBAB}"/>
              </a:ext>
            </a:extLst>
          </p:cNvPr>
          <p:cNvGrpSpPr/>
          <p:nvPr userDrawn="1"/>
        </p:nvGrpSpPr>
        <p:grpSpPr>
          <a:xfrm>
            <a:off x="0" y="0"/>
            <a:ext cx="12192000" cy="795135"/>
            <a:chOff x="0" y="2633866"/>
            <a:chExt cx="12192000" cy="79513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4B12B288-1756-4DDB-9CD3-692140089CBD}"/>
                </a:ext>
              </a:extLst>
            </p:cNvPr>
            <p:cNvSpPr/>
            <p:nvPr userDrawn="1"/>
          </p:nvSpPr>
          <p:spPr>
            <a:xfrm>
              <a:off x="248479" y="2663683"/>
              <a:ext cx="11943521" cy="278297"/>
            </a:xfrm>
            <a:prstGeom prst="rect">
              <a:avLst/>
            </a:prstGeom>
            <a:solidFill>
              <a:srgbClr val="D8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s-PE"/>
            </a:p>
          </p:txBody>
        </p:sp>
        <p:sp>
          <p:nvSpPr>
            <p:cNvPr id="9" name="Rectángulo: esquinas superiores, una redondeada y la otra cortada 8">
              <a:extLst>
                <a:ext uri="{FF2B5EF4-FFF2-40B4-BE49-F238E27FC236}">
                  <a16:creationId xmlns:a16="http://schemas.microsoft.com/office/drawing/2014/main" id="{009FCBA3-7A07-44B0-BB07-923E20B4F5B5}"/>
                </a:ext>
              </a:extLst>
            </p:cNvPr>
            <p:cNvSpPr/>
            <p:nvPr userDrawn="1"/>
          </p:nvSpPr>
          <p:spPr>
            <a:xfrm flipV="1">
              <a:off x="258417" y="2633868"/>
              <a:ext cx="2335696" cy="795132"/>
            </a:xfrm>
            <a:prstGeom prst="snipRoundRect">
              <a:avLst>
                <a:gd name="adj1" fmla="val 0"/>
                <a:gd name="adj2" fmla="val 33750"/>
              </a:avLst>
            </a:prstGeom>
            <a:solidFill>
              <a:srgbClr val="D8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2464EF0-5706-4AC6-A8FC-F3F595F1FD54}"/>
                </a:ext>
              </a:extLst>
            </p:cNvPr>
            <p:cNvSpPr/>
            <p:nvPr userDrawn="1"/>
          </p:nvSpPr>
          <p:spPr>
            <a:xfrm>
              <a:off x="248475" y="2633868"/>
              <a:ext cx="11943521" cy="278297"/>
            </a:xfrm>
            <a:prstGeom prst="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8C58180-4AD8-4FF6-8F7B-0B0542C25B86}"/>
                </a:ext>
              </a:extLst>
            </p:cNvPr>
            <p:cNvSpPr/>
            <p:nvPr userDrawn="1"/>
          </p:nvSpPr>
          <p:spPr>
            <a:xfrm>
              <a:off x="0" y="2633871"/>
              <a:ext cx="159026" cy="795130"/>
            </a:xfrm>
            <a:prstGeom prst="rect">
              <a:avLst/>
            </a:prstGeom>
            <a:solidFill>
              <a:srgbClr val="D8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s-PE"/>
            </a:p>
          </p:txBody>
        </p:sp>
        <p:sp>
          <p:nvSpPr>
            <p:cNvPr id="12" name="Rectángulo: esquinas superiores, una redondeada y la otra cortada 11">
              <a:extLst>
                <a:ext uri="{FF2B5EF4-FFF2-40B4-BE49-F238E27FC236}">
                  <a16:creationId xmlns:a16="http://schemas.microsoft.com/office/drawing/2014/main" id="{746AA44D-DE59-40E3-AE16-C359FF7BC7B3}"/>
                </a:ext>
              </a:extLst>
            </p:cNvPr>
            <p:cNvSpPr/>
            <p:nvPr userDrawn="1"/>
          </p:nvSpPr>
          <p:spPr>
            <a:xfrm flipV="1">
              <a:off x="248478" y="2633866"/>
              <a:ext cx="2295939" cy="795131"/>
            </a:xfrm>
            <a:prstGeom prst="snipRoundRect">
              <a:avLst>
                <a:gd name="adj1" fmla="val 0"/>
                <a:gd name="adj2" fmla="val 36250"/>
              </a:avLst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295681-4FA2-4CA9-968B-8E92724B42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94463" y="2892286"/>
              <a:ext cx="1778681" cy="2782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747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D1F75-3D6D-498A-9BA1-FC336642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240A01-FBFC-44C3-9007-0B425DAE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100AAD-DAAE-4FF5-BF3A-BB906016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E27BD-4D9F-4E4A-9B0F-D1964298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9376D6-DABB-423C-A52E-2C1951E6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920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7AAF1-843D-43F0-B6AD-4408A5C8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B8BAA6-6D34-41B6-A2A1-DF56A80DC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00EBCD-318A-4D7E-B0F8-346822ED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404966-F3B4-4209-955D-905996DD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104299-BB5F-455F-B17B-DB5119F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102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EFF81-5ACE-46E0-B183-7C2CE282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65D48-8F68-450B-AE8A-DAC3880EB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E45A5E-3424-42DE-A863-2BF7F4467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858F72-4DB7-43F2-A808-40563792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B3EB9E-62F0-4B15-82AB-0EA727F7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39618B-CCEB-4DC7-8117-647F7C49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633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58137-DE7A-42CE-9B65-4361E43E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CA90CE-4BC5-4CA3-91CB-F3FF3555B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5EF0BA-FD42-402B-9C18-6E2EB2300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823CD2-934F-4AB7-9575-6D96B4AD0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1037830-E614-4E98-9BA6-B5791B0A3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F1BCC9-021D-4A18-988C-11563FFE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1C19E-E2FB-495B-9685-ADC6FF43B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ECDDA9-5FFB-42C1-82DD-BB07B6CC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424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20E6DCA6-7FE6-4B0E-A51C-0C491810700F}"/>
              </a:ext>
            </a:extLst>
          </p:cNvPr>
          <p:cNvGrpSpPr/>
          <p:nvPr userDrawn="1"/>
        </p:nvGrpSpPr>
        <p:grpSpPr>
          <a:xfrm>
            <a:off x="0" y="0"/>
            <a:ext cx="12192000" cy="795135"/>
            <a:chOff x="0" y="2633866"/>
            <a:chExt cx="12192000" cy="795135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974081F-5998-42FA-9F93-68E04A8E691B}"/>
                </a:ext>
              </a:extLst>
            </p:cNvPr>
            <p:cNvSpPr/>
            <p:nvPr userDrawn="1"/>
          </p:nvSpPr>
          <p:spPr>
            <a:xfrm>
              <a:off x="248479" y="2663683"/>
              <a:ext cx="11943521" cy="278297"/>
            </a:xfrm>
            <a:prstGeom prst="rect">
              <a:avLst/>
            </a:prstGeom>
            <a:solidFill>
              <a:srgbClr val="D8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s-PE"/>
            </a:p>
          </p:txBody>
        </p:sp>
        <p:sp>
          <p:nvSpPr>
            <p:cNvPr id="14" name="Rectángulo: esquinas superiores, una redondeada y la otra cortada 13">
              <a:extLst>
                <a:ext uri="{FF2B5EF4-FFF2-40B4-BE49-F238E27FC236}">
                  <a16:creationId xmlns:a16="http://schemas.microsoft.com/office/drawing/2014/main" id="{1BE9B133-09DD-4FB4-9AD7-E35BBC473ECB}"/>
                </a:ext>
              </a:extLst>
            </p:cNvPr>
            <p:cNvSpPr/>
            <p:nvPr userDrawn="1"/>
          </p:nvSpPr>
          <p:spPr>
            <a:xfrm flipV="1">
              <a:off x="258417" y="2633868"/>
              <a:ext cx="2335696" cy="795132"/>
            </a:xfrm>
            <a:prstGeom prst="snipRoundRect">
              <a:avLst>
                <a:gd name="adj1" fmla="val 0"/>
                <a:gd name="adj2" fmla="val 33750"/>
              </a:avLst>
            </a:prstGeom>
            <a:solidFill>
              <a:srgbClr val="D8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FA02BE3-3ACA-4F6F-8D61-E089017C0A3F}"/>
                </a:ext>
              </a:extLst>
            </p:cNvPr>
            <p:cNvSpPr/>
            <p:nvPr userDrawn="1"/>
          </p:nvSpPr>
          <p:spPr>
            <a:xfrm>
              <a:off x="248475" y="2633868"/>
              <a:ext cx="11943521" cy="278297"/>
            </a:xfrm>
            <a:prstGeom prst="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F75695C-41F3-426F-BD49-5CB3DCAF08A5}"/>
                </a:ext>
              </a:extLst>
            </p:cNvPr>
            <p:cNvSpPr/>
            <p:nvPr userDrawn="1"/>
          </p:nvSpPr>
          <p:spPr>
            <a:xfrm>
              <a:off x="0" y="2633871"/>
              <a:ext cx="159026" cy="795130"/>
            </a:xfrm>
            <a:prstGeom prst="rect">
              <a:avLst/>
            </a:prstGeom>
            <a:solidFill>
              <a:srgbClr val="D8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s-PE"/>
            </a:p>
          </p:txBody>
        </p:sp>
        <p:sp>
          <p:nvSpPr>
            <p:cNvPr id="12" name="Rectángulo: esquinas superiores, una redondeada y la otra cortada 11">
              <a:extLst>
                <a:ext uri="{FF2B5EF4-FFF2-40B4-BE49-F238E27FC236}">
                  <a16:creationId xmlns:a16="http://schemas.microsoft.com/office/drawing/2014/main" id="{75B81568-403C-4748-9FD9-A259F3085E3C}"/>
                </a:ext>
              </a:extLst>
            </p:cNvPr>
            <p:cNvSpPr/>
            <p:nvPr userDrawn="1"/>
          </p:nvSpPr>
          <p:spPr>
            <a:xfrm flipV="1">
              <a:off x="248478" y="2633866"/>
              <a:ext cx="2295939" cy="795131"/>
            </a:xfrm>
            <a:prstGeom prst="snipRoundRect">
              <a:avLst>
                <a:gd name="adj1" fmla="val 0"/>
                <a:gd name="adj2" fmla="val 36250"/>
              </a:avLst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3F95D693-67E7-4C87-A566-BDD67A26A2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94463" y="2892286"/>
              <a:ext cx="1778681" cy="278297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43C3399-1E49-4A12-9153-2F589A940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0463" y="337929"/>
            <a:ext cx="9511536" cy="50689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ECDECD-16F5-42A2-8D36-D2782715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DA8B25-261C-406F-BD14-11A22930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835579-BE68-4BA3-AD7C-88DBC828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438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D23072-3E51-45CE-8A33-00577366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F24C2F-7736-415A-A191-09287196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186C72-4B17-4C45-8AB6-11C34666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951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977E4-7AC3-435A-9F62-C9489678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88082-EF19-445C-81D3-778EEC5B0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D22E5B-0EF8-4374-B904-978649381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7EBD94-344C-42BE-9FB4-501E6E1E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90A818-754C-4C9E-A65F-DCB8A227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B9570A-E570-4DA2-9042-AD26CF544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328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BBC38-4FD1-41F0-B13F-05CBE956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9D8954-515B-4A06-A4D1-140CF5337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AA18C9-1501-4CC9-AA09-469EA94A8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12425B-5443-42FB-AD7A-85E879F1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BFB22A-0CB5-45D8-A529-F96661F7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557093-8C28-45B7-A02E-BEC0A5DD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668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CBE79-B6F2-49C9-B57E-D93E7926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3B97DB-1CEE-4A8C-B7DD-08A980A23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B72D95-52E7-4E6B-84CD-081AC739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108FC-9A57-402C-AF0B-8B9DF018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875EB9-3941-4F4C-AE1C-437F9C25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626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AD2A13-233F-404A-8E5F-E02C5152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B48452-467F-4645-9D82-FE3617367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F8C529-273C-43D8-AC68-AE6566E9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DE39D-C5C2-4205-997A-DEEF1ABB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F96F4D-96E1-4BEB-8C28-5CD0E5C9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947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409D3F1-003D-4865-86CE-397CFE839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257F6F-F81F-4FA2-833E-39704F485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FC258B-E5C4-46CD-9FC6-CB452112F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97009-48C6-45AD-B20E-D6DA29E6AD70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C806F4-B5A5-4C72-A22F-56ADAB040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3C9178-9A30-4F44-B4F7-9533B0BAF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6985-FA7F-460F-BDBB-D73D2DB521E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597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FD2A5-F1BD-4F0E-B0DB-82193AB49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PoC – Flujos de Integración (Data – Servicios)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D0F40A-5C10-4017-B609-DDA2E8D78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Área de Desarrollo</a:t>
            </a:r>
          </a:p>
          <a:p>
            <a:r>
              <a:rPr lang="es-PE" dirty="0"/>
              <a:t>2026-05-31</a:t>
            </a:r>
          </a:p>
        </p:txBody>
      </p:sp>
    </p:spTree>
    <p:extLst>
      <p:ext uri="{BB962C8B-B14F-4D97-AF65-F5344CB8AC3E}">
        <p14:creationId xmlns:p14="http://schemas.microsoft.com/office/powerpoint/2010/main" val="1225939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4CC59-DCED-4EB3-81BF-289E1EFC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Flujos de Integración (Data, Servicios)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559187-EF27-43FC-A358-A89598EB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080269"/>
            <a:ext cx="11083636" cy="5469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719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4CC59-DCED-4EB3-81BF-289E1EFC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Diagramas de Integración y Herramientas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090388-DE12-4172-81F7-E75E16376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126834"/>
            <a:ext cx="11083636" cy="5498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80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4CC59-DCED-4EB3-81BF-289E1EFC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Herramientas Personalizadas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DB3AE5-52D9-49AA-91BD-D2483DEA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147048"/>
            <a:ext cx="11083636" cy="5457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C0B2D55-8599-46B1-BDCF-E20465FF9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39" y="2022563"/>
            <a:ext cx="3870961" cy="4692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101D9F4-AFA0-41B4-BB7F-9ED76A4A6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22563"/>
            <a:ext cx="3870961" cy="47182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orchetes 6">
            <a:extLst>
              <a:ext uri="{FF2B5EF4-FFF2-40B4-BE49-F238E27FC236}">
                <a16:creationId xmlns:a16="http://schemas.microsoft.com/office/drawing/2014/main" id="{C942C868-DF8E-4E27-89A5-63BC57480725}"/>
              </a:ext>
            </a:extLst>
          </p:cNvPr>
          <p:cNvSpPr/>
          <p:nvPr/>
        </p:nvSpPr>
        <p:spPr>
          <a:xfrm>
            <a:off x="2225039" y="2022563"/>
            <a:ext cx="3870960" cy="4692574"/>
          </a:xfrm>
          <a:prstGeom prst="bracketPair">
            <a:avLst>
              <a:gd name="adj" fmla="val 4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orchetes 7">
            <a:extLst>
              <a:ext uri="{FF2B5EF4-FFF2-40B4-BE49-F238E27FC236}">
                <a16:creationId xmlns:a16="http://schemas.microsoft.com/office/drawing/2014/main" id="{AC0EA9E4-B538-473E-8A63-0B253ED0DCB9}"/>
              </a:ext>
            </a:extLst>
          </p:cNvPr>
          <p:cNvSpPr/>
          <p:nvPr/>
        </p:nvSpPr>
        <p:spPr>
          <a:xfrm>
            <a:off x="6248399" y="2048243"/>
            <a:ext cx="3870960" cy="4692574"/>
          </a:xfrm>
          <a:prstGeom prst="bracketPair">
            <a:avLst>
              <a:gd name="adj" fmla="val 4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orchetes 8">
            <a:extLst>
              <a:ext uri="{FF2B5EF4-FFF2-40B4-BE49-F238E27FC236}">
                <a16:creationId xmlns:a16="http://schemas.microsoft.com/office/drawing/2014/main" id="{C954BEDE-8F08-4B2C-A790-40284F8C668F}"/>
              </a:ext>
            </a:extLst>
          </p:cNvPr>
          <p:cNvSpPr/>
          <p:nvPr/>
        </p:nvSpPr>
        <p:spPr>
          <a:xfrm>
            <a:off x="6370319" y="3281679"/>
            <a:ext cx="3596642" cy="2682241"/>
          </a:xfrm>
          <a:prstGeom prst="bracketPair">
            <a:avLst>
              <a:gd name="adj" fmla="val 4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Globo: flecha hacia abajo 9">
            <a:extLst>
              <a:ext uri="{FF2B5EF4-FFF2-40B4-BE49-F238E27FC236}">
                <a16:creationId xmlns:a16="http://schemas.microsoft.com/office/drawing/2014/main" id="{54DFA5C8-6F34-4828-8C11-E55FCD7EC4EF}"/>
              </a:ext>
            </a:extLst>
          </p:cNvPr>
          <p:cNvSpPr/>
          <p:nvPr/>
        </p:nvSpPr>
        <p:spPr>
          <a:xfrm>
            <a:off x="8260080" y="2640568"/>
            <a:ext cx="1574800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Definición de Propiedades</a:t>
            </a:r>
          </a:p>
        </p:txBody>
      </p:sp>
      <p:sp>
        <p:nvSpPr>
          <p:cNvPr id="11" name="Corchetes 10">
            <a:extLst>
              <a:ext uri="{FF2B5EF4-FFF2-40B4-BE49-F238E27FC236}">
                <a16:creationId xmlns:a16="http://schemas.microsoft.com/office/drawing/2014/main" id="{2D145FBE-EEF1-453D-ACBE-76C3B535D2AE}"/>
              </a:ext>
            </a:extLst>
          </p:cNvPr>
          <p:cNvSpPr/>
          <p:nvPr/>
        </p:nvSpPr>
        <p:spPr>
          <a:xfrm>
            <a:off x="2357119" y="4949869"/>
            <a:ext cx="3596642" cy="1402499"/>
          </a:xfrm>
          <a:prstGeom prst="bracketPair">
            <a:avLst>
              <a:gd name="adj" fmla="val 4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Globo: flecha hacia abajo 11">
            <a:extLst>
              <a:ext uri="{FF2B5EF4-FFF2-40B4-BE49-F238E27FC236}">
                <a16:creationId xmlns:a16="http://schemas.microsoft.com/office/drawing/2014/main" id="{BB560256-DBBB-4B55-BB40-9916F37B5A88}"/>
              </a:ext>
            </a:extLst>
          </p:cNvPr>
          <p:cNvSpPr/>
          <p:nvPr/>
        </p:nvSpPr>
        <p:spPr>
          <a:xfrm>
            <a:off x="4277360" y="4696174"/>
            <a:ext cx="1574800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Reutilización en Diagramas</a:t>
            </a:r>
          </a:p>
        </p:txBody>
      </p:sp>
    </p:spTree>
    <p:extLst>
      <p:ext uri="{BB962C8B-B14F-4D97-AF65-F5344CB8AC3E}">
        <p14:creationId xmlns:p14="http://schemas.microsoft.com/office/powerpoint/2010/main" val="54077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BC18F-E79B-4E69-BC37-FDD55421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Conexiones Globales a Fuentes (API, BD, Mail, …)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8A8534-BB33-4CB2-BB58-6FB1CABC4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184798"/>
            <a:ext cx="11083636" cy="546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3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B37FD2-99C3-477F-8497-5F0ACCAC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238444"/>
            <a:ext cx="11083636" cy="545807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AC04100E-9A26-432D-8211-85CF7CD1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Ejemplo: Flujo Integración (Datos – Servicios)</a:t>
            </a:r>
          </a:p>
        </p:txBody>
      </p:sp>
    </p:spTree>
    <p:extLst>
      <p:ext uri="{BB962C8B-B14F-4D97-AF65-F5344CB8AC3E}">
        <p14:creationId xmlns:p14="http://schemas.microsoft.com/office/powerpoint/2010/main" val="125147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7541524-A6A0-4C9C-8378-40B1A504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477499"/>
            <a:ext cx="11083636" cy="5183162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9CB1BEC-7AB7-4FD2-B6D9-F4BAF408FC06}"/>
              </a:ext>
            </a:extLst>
          </p:cNvPr>
          <p:cNvSpPr/>
          <p:nvPr/>
        </p:nvSpPr>
        <p:spPr>
          <a:xfrm>
            <a:off x="985520" y="3312160"/>
            <a:ext cx="1259840" cy="5791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orchetes 4">
            <a:extLst>
              <a:ext uri="{FF2B5EF4-FFF2-40B4-BE49-F238E27FC236}">
                <a16:creationId xmlns:a16="http://schemas.microsoft.com/office/drawing/2014/main" id="{0C90E03D-5955-4443-B2A6-A4160BC51DA1}"/>
              </a:ext>
            </a:extLst>
          </p:cNvPr>
          <p:cNvSpPr/>
          <p:nvPr/>
        </p:nvSpPr>
        <p:spPr>
          <a:xfrm>
            <a:off x="8757920" y="1849120"/>
            <a:ext cx="2804160" cy="4622800"/>
          </a:xfrm>
          <a:prstGeom prst="bracketPair">
            <a:avLst>
              <a:gd name="adj" fmla="val 82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C70FE0-FA51-4411-9FA0-3F3774BD6BDA}"/>
              </a:ext>
            </a:extLst>
          </p:cNvPr>
          <p:cNvSpPr/>
          <p:nvPr/>
        </p:nvSpPr>
        <p:spPr>
          <a:xfrm>
            <a:off x="8849360" y="2794000"/>
            <a:ext cx="2580640" cy="76200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Globo: flecha hacia abajo 6">
            <a:extLst>
              <a:ext uri="{FF2B5EF4-FFF2-40B4-BE49-F238E27FC236}">
                <a16:creationId xmlns:a16="http://schemas.microsoft.com/office/drawing/2014/main" id="{77075F8B-3581-4872-A0E7-F4C387B10195}"/>
              </a:ext>
            </a:extLst>
          </p:cNvPr>
          <p:cNvSpPr/>
          <p:nvPr/>
        </p:nvSpPr>
        <p:spPr>
          <a:xfrm>
            <a:off x="10312400" y="2148059"/>
            <a:ext cx="1117600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Conexión Global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22468C2-02D9-473B-987F-F095F98C80D4}"/>
              </a:ext>
            </a:extLst>
          </p:cNvPr>
          <p:cNvSpPr/>
          <p:nvPr/>
        </p:nvSpPr>
        <p:spPr>
          <a:xfrm>
            <a:off x="8849360" y="3891280"/>
            <a:ext cx="1463040" cy="113792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Globo: flecha izquierda 8">
            <a:extLst>
              <a:ext uri="{FF2B5EF4-FFF2-40B4-BE49-F238E27FC236}">
                <a16:creationId xmlns:a16="http://schemas.microsoft.com/office/drawing/2014/main" id="{735A31C9-EBB4-4227-8188-87A4069862FB}"/>
              </a:ext>
            </a:extLst>
          </p:cNvPr>
          <p:cNvSpPr/>
          <p:nvPr/>
        </p:nvSpPr>
        <p:spPr>
          <a:xfrm>
            <a:off x="10160000" y="4027660"/>
            <a:ext cx="1767840" cy="87376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06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Personalizar si es necesario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15A3636-D81B-4A2B-814C-70E9B53F39D3}"/>
              </a:ext>
            </a:extLst>
          </p:cNvPr>
          <p:cNvSpPr/>
          <p:nvPr/>
        </p:nvSpPr>
        <p:spPr>
          <a:xfrm>
            <a:off x="8849360" y="5403560"/>
            <a:ext cx="1463040" cy="36146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Globo: flecha izquierda 10">
            <a:extLst>
              <a:ext uri="{FF2B5EF4-FFF2-40B4-BE49-F238E27FC236}">
                <a16:creationId xmlns:a16="http://schemas.microsoft.com/office/drawing/2014/main" id="{6DE15497-11CC-4D57-9440-B72AB8903B27}"/>
              </a:ext>
            </a:extLst>
          </p:cNvPr>
          <p:cNvSpPr/>
          <p:nvPr/>
        </p:nvSpPr>
        <p:spPr>
          <a:xfrm>
            <a:off x="10139680" y="5146821"/>
            <a:ext cx="1767840" cy="87376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06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Escenario #1: Uso de Tabla completa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71C38FF2-549F-4658-9111-11C572EB5DC3}"/>
              </a:ext>
            </a:extLst>
          </p:cNvPr>
          <p:cNvCxnSpPr>
            <a:cxnSpLocks/>
            <a:stCxn id="3" idx="0"/>
            <a:endCxn id="22" idx="0"/>
          </p:cNvCxnSpPr>
          <p:nvPr/>
        </p:nvCxnSpPr>
        <p:spPr>
          <a:xfrm rot="5400000" flipH="1" flipV="1">
            <a:off x="5097780" y="-1729740"/>
            <a:ext cx="1559560" cy="8524240"/>
          </a:xfrm>
          <a:prstGeom prst="bentConnector3">
            <a:avLst>
              <a:gd name="adj1" fmla="val 13289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2071953E-D1A9-496F-B7EF-382D396A2CD7}"/>
              </a:ext>
            </a:extLst>
          </p:cNvPr>
          <p:cNvSpPr/>
          <p:nvPr/>
        </p:nvSpPr>
        <p:spPr>
          <a:xfrm>
            <a:off x="10035309" y="1752600"/>
            <a:ext cx="208742" cy="193040"/>
          </a:xfrm>
          <a:prstGeom prst="flowChartConnecto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Título 24">
            <a:extLst>
              <a:ext uri="{FF2B5EF4-FFF2-40B4-BE49-F238E27FC236}">
                <a16:creationId xmlns:a16="http://schemas.microsoft.com/office/drawing/2014/main" id="{5D884CE7-A936-4E1B-8D6D-E67B9DA3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Extracción de datos directa con Tabla</a:t>
            </a:r>
          </a:p>
        </p:txBody>
      </p:sp>
    </p:spTree>
    <p:extLst>
      <p:ext uri="{BB962C8B-B14F-4D97-AF65-F5344CB8AC3E}">
        <p14:creationId xmlns:p14="http://schemas.microsoft.com/office/powerpoint/2010/main" val="384359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EE1CD38-41A5-4BB8-9672-4CBA23E6D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403158"/>
            <a:ext cx="11083636" cy="5169284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9CB1BEC-7AB7-4FD2-B6D9-F4BAF408FC06}"/>
              </a:ext>
            </a:extLst>
          </p:cNvPr>
          <p:cNvSpPr/>
          <p:nvPr/>
        </p:nvSpPr>
        <p:spPr>
          <a:xfrm>
            <a:off x="995680" y="4399280"/>
            <a:ext cx="1259840" cy="5791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orchetes 4">
            <a:extLst>
              <a:ext uri="{FF2B5EF4-FFF2-40B4-BE49-F238E27FC236}">
                <a16:creationId xmlns:a16="http://schemas.microsoft.com/office/drawing/2014/main" id="{0C90E03D-5955-4443-B2A6-A4160BC51DA1}"/>
              </a:ext>
            </a:extLst>
          </p:cNvPr>
          <p:cNvSpPr/>
          <p:nvPr/>
        </p:nvSpPr>
        <p:spPr>
          <a:xfrm>
            <a:off x="8757920" y="1767840"/>
            <a:ext cx="2804160" cy="4801380"/>
          </a:xfrm>
          <a:prstGeom prst="bracketPair">
            <a:avLst>
              <a:gd name="adj" fmla="val 82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C70FE0-FA51-4411-9FA0-3F3774BD6BDA}"/>
              </a:ext>
            </a:extLst>
          </p:cNvPr>
          <p:cNvSpPr/>
          <p:nvPr/>
        </p:nvSpPr>
        <p:spPr>
          <a:xfrm>
            <a:off x="8849360" y="2641600"/>
            <a:ext cx="2580640" cy="76200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Globo: flecha hacia abajo 6">
            <a:extLst>
              <a:ext uri="{FF2B5EF4-FFF2-40B4-BE49-F238E27FC236}">
                <a16:creationId xmlns:a16="http://schemas.microsoft.com/office/drawing/2014/main" id="{77075F8B-3581-4872-A0E7-F4C387B10195}"/>
              </a:ext>
            </a:extLst>
          </p:cNvPr>
          <p:cNvSpPr/>
          <p:nvPr/>
        </p:nvSpPr>
        <p:spPr>
          <a:xfrm>
            <a:off x="10312400" y="2066779"/>
            <a:ext cx="1117600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Conexión Global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22468C2-02D9-473B-987F-F095F98C80D4}"/>
              </a:ext>
            </a:extLst>
          </p:cNvPr>
          <p:cNvSpPr/>
          <p:nvPr/>
        </p:nvSpPr>
        <p:spPr>
          <a:xfrm>
            <a:off x="8849360" y="3810000"/>
            <a:ext cx="1463040" cy="1020297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Globo: flecha izquierda 8">
            <a:extLst>
              <a:ext uri="{FF2B5EF4-FFF2-40B4-BE49-F238E27FC236}">
                <a16:creationId xmlns:a16="http://schemas.microsoft.com/office/drawing/2014/main" id="{735A31C9-EBB4-4227-8188-87A4069862FB}"/>
              </a:ext>
            </a:extLst>
          </p:cNvPr>
          <p:cNvSpPr/>
          <p:nvPr/>
        </p:nvSpPr>
        <p:spPr>
          <a:xfrm>
            <a:off x="10160000" y="3946380"/>
            <a:ext cx="1767840" cy="87376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06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Personalizar si es necesario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15A3636-D81B-4A2B-814C-70E9B53F39D3}"/>
              </a:ext>
            </a:extLst>
          </p:cNvPr>
          <p:cNvSpPr/>
          <p:nvPr/>
        </p:nvSpPr>
        <p:spPr>
          <a:xfrm>
            <a:off x="8833197" y="5608319"/>
            <a:ext cx="1463040" cy="812799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Globo: flecha izquierda 10">
            <a:extLst>
              <a:ext uri="{FF2B5EF4-FFF2-40B4-BE49-F238E27FC236}">
                <a16:creationId xmlns:a16="http://schemas.microsoft.com/office/drawing/2014/main" id="{6DE15497-11CC-4D57-9440-B72AB8903B27}"/>
              </a:ext>
            </a:extLst>
          </p:cNvPr>
          <p:cNvSpPr/>
          <p:nvPr/>
        </p:nvSpPr>
        <p:spPr>
          <a:xfrm>
            <a:off x="10093498" y="5605680"/>
            <a:ext cx="1767840" cy="87376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06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Escenario #2: Uso de </a:t>
            </a:r>
            <a:r>
              <a:rPr lang="es-PE" sz="1400" dirty="0" err="1"/>
              <a:t>Query</a:t>
            </a:r>
            <a:endParaRPr lang="es-PE" sz="1400" dirty="0"/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71C38FF2-549F-4658-9111-11C572EB5DC3}"/>
              </a:ext>
            </a:extLst>
          </p:cNvPr>
          <p:cNvCxnSpPr>
            <a:cxnSpLocks/>
            <a:stCxn id="3" idx="2"/>
            <a:endCxn id="22" idx="4"/>
          </p:cNvCxnSpPr>
          <p:nvPr/>
        </p:nvCxnSpPr>
        <p:spPr>
          <a:xfrm rot="16200000" flipH="1">
            <a:off x="5139415" y="1464584"/>
            <a:ext cx="1590820" cy="8618451"/>
          </a:xfrm>
          <a:prstGeom prst="bentConnector3">
            <a:avLst>
              <a:gd name="adj1" fmla="val 11437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2071953E-D1A9-496F-B7EF-382D396A2CD7}"/>
              </a:ext>
            </a:extLst>
          </p:cNvPr>
          <p:cNvSpPr/>
          <p:nvPr/>
        </p:nvSpPr>
        <p:spPr>
          <a:xfrm>
            <a:off x="10139680" y="6376180"/>
            <a:ext cx="208742" cy="193040"/>
          </a:xfrm>
          <a:prstGeom prst="flowChartConnecto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C465FBDE-D390-40BB-A288-7AC1C105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Extracción de Datos con Sentencias SQL</a:t>
            </a:r>
          </a:p>
        </p:txBody>
      </p:sp>
    </p:spTree>
    <p:extLst>
      <p:ext uri="{BB962C8B-B14F-4D97-AF65-F5344CB8AC3E}">
        <p14:creationId xmlns:p14="http://schemas.microsoft.com/office/powerpoint/2010/main" val="3706760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FC9E738-89AE-4E7F-A31E-205458BC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317221"/>
            <a:ext cx="11083636" cy="5142252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9CB1BEC-7AB7-4FD2-B6D9-F4BAF408FC06}"/>
              </a:ext>
            </a:extLst>
          </p:cNvPr>
          <p:cNvSpPr/>
          <p:nvPr/>
        </p:nvSpPr>
        <p:spPr>
          <a:xfrm>
            <a:off x="2702560" y="3598787"/>
            <a:ext cx="1259840" cy="5791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orchetes 4">
            <a:extLst>
              <a:ext uri="{FF2B5EF4-FFF2-40B4-BE49-F238E27FC236}">
                <a16:creationId xmlns:a16="http://schemas.microsoft.com/office/drawing/2014/main" id="{0C90E03D-5955-4443-B2A6-A4160BC51DA1}"/>
              </a:ext>
            </a:extLst>
          </p:cNvPr>
          <p:cNvSpPr/>
          <p:nvPr/>
        </p:nvSpPr>
        <p:spPr>
          <a:xfrm>
            <a:off x="8757920" y="1625600"/>
            <a:ext cx="2804160" cy="1778000"/>
          </a:xfrm>
          <a:prstGeom prst="bracketPair">
            <a:avLst>
              <a:gd name="adj" fmla="val 82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C70FE0-FA51-4411-9FA0-3F3774BD6BDA}"/>
              </a:ext>
            </a:extLst>
          </p:cNvPr>
          <p:cNvSpPr/>
          <p:nvPr/>
        </p:nvSpPr>
        <p:spPr>
          <a:xfrm>
            <a:off x="8849360" y="2499360"/>
            <a:ext cx="2580640" cy="81280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Globo: flecha hacia abajo 6">
            <a:extLst>
              <a:ext uri="{FF2B5EF4-FFF2-40B4-BE49-F238E27FC236}">
                <a16:creationId xmlns:a16="http://schemas.microsoft.com/office/drawing/2014/main" id="{77075F8B-3581-4872-A0E7-F4C387B10195}"/>
              </a:ext>
            </a:extLst>
          </p:cNvPr>
          <p:cNvSpPr/>
          <p:nvPr/>
        </p:nvSpPr>
        <p:spPr>
          <a:xfrm>
            <a:off x="10403840" y="1625601"/>
            <a:ext cx="1656080" cy="1135772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7906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Unir 2 dataset en base a campo común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71C38FF2-549F-4658-9111-11C572EB5DC3}"/>
              </a:ext>
            </a:extLst>
          </p:cNvPr>
          <p:cNvCxnSpPr>
            <a:cxnSpLocks/>
            <a:stCxn id="3" idx="0"/>
            <a:endCxn id="22" idx="4"/>
          </p:cNvCxnSpPr>
          <p:nvPr/>
        </p:nvCxnSpPr>
        <p:spPr>
          <a:xfrm rot="5400000" flipH="1" flipV="1">
            <a:off x="5840456" y="-774327"/>
            <a:ext cx="1865138" cy="6881091"/>
          </a:xfrm>
          <a:prstGeom prst="bentConnector3">
            <a:avLst>
              <a:gd name="adj1" fmla="val 13770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2071953E-D1A9-496F-B7EF-382D396A2CD7}"/>
              </a:ext>
            </a:extLst>
          </p:cNvPr>
          <p:cNvSpPr/>
          <p:nvPr/>
        </p:nvSpPr>
        <p:spPr>
          <a:xfrm>
            <a:off x="10109200" y="1540609"/>
            <a:ext cx="208742" cy="193040"/>
          </a:xfrm>
          <a:prstGeom prst="flowChartConnecto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D18E3A4-5A28-44BF-BB78-FF33A7EF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478" y="3312160"/>
            <a:ext cx="2612796" cy="2893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79389067-B16F-46AA-BC7A-EC8ADD7A0D60}"/>
              </a:ext>
            </a:extLst>
          </p:cNvPr>
          <p:cNvSpPr/>
          <p:nvPr/>
        </p:nvSpPr>
        <p:spPr>
          <a:xfrm rot="16200000">
            <a:off x="3854939" y="3767208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F43B35C7-123D-4C10-817A-5541C525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Combinar/Unir dataset por campo clave común</a:t>
            </a:r>
          </a:p>
        </p:txBody>
      </p:sp>
    </p:spTree>
    <p:extLst>
      <p:ext uri="{BB962C8B-B14F-4D97-AF65-F5344CB8AC3E}">
        <p14:creationId xmlns:p14="http://schemas.microsoft.com/office/powerpoint/2010/main" val="120993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22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7480FBD-183F-40DD-8DA5-D36D5A94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843204"/>
            <a:ext cx="11083636" cy="517159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AAB86B7-E22A-4B8A-955A-FD772D6D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359" y="3436103"/>
            <a:ext cx="4716545" cy="3361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C68D24F-60B3-4497-83A9-20EADA3CC5D1}"/>
              </a:ext>
            </a:extLst>
          </p:cNvPr>
          <p:cNvSpPr/>
          <p:nvPr/>
        </p:nvSpPr>
        <p:spPr>
          <a:xfrm>
            <a:off x="5882989" y="2568727"/>
            <a:ext cx="1348127" cy="76305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10E45CB4-51D7-4604-93C8-3AA67D4B3DF9}"/>
              </a:ext>
            </a:extLst>
          </p:cNvPr>
          <p:cNvCxnSpPr>
            <a:cxnSpLocks/>
            <a:stCxn id="14" idx="0"/>
            <a:endCxn id="16" idx="0"/>
          </p:cNvCxnSpPr>
          <p:nvPr/>
        </p:nvCxnSpPr>
        <p:spPr>
          <a:xfrm rot="5400000" flipH="1" flipV="1">
            <a:off x="7668793" y="49557"/>
            <a:ext cx="1407430" cy="3630911"/>
          </a:xfrm>
          <a:prstGeom prst="bentConnector3">
            <a:avLst>
              <a:gd name="adj1" fmla="val 12146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D1981BCB-362E-47E6-8273-B0796376EBAA}"/>
              </a:ext>
            </a:extLst>
          </p:cNvPr>
          <p:cNvSpPr/>
          <p:nvPr/>
        </p:nvSpPr>
        <p:spPr>
          <a:xfrm>
            <a:off x="10083593" y="1161297"/>
            <a:ext cx="208742" cy="193040"/>
          </a:xfrm>
          <a:prstGeom prst="flowChartConnecto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E2F73B5A-5D93-44CD-AFB5-0C45D028DF16}"/>
              </a:ext>
            </a:extLst>
          </p:cNvPr>
          <p:cNvSpPr/>
          <p:nvPr/>
        </p:nvSpPr>
        <p:spPr>
          <a:xfrm>
            <a:off x="8849360" y="2153920"/>
            <a:ext cx="2580640" cy="76200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Globo: flecha hacia abajo 23">
            <a:extLst>
              <a:ext uri="{FF2B5EF4-FFF2-40B4-BE49-F238E27FC236}">
                <a16:creationId xmlns:a16="http://schemas.microsoft.com/office/drawing/2014/main" id="{52738D40-1585-4371-BFBB-C20C9BBCF48F}"/>
              </a:ext>
            </a:extLst>
          </p:cNvPr>
          <p:cNvSpPr/>
          <p:nvPr/>
        </p:nvSpPr>
        <p:spPr>
          <a:xfrm>
            <a:off x="10312400" y="1507979"/>
            <a:ext cx="1117600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Conexión Global</a:t>
            </a:r>
          </a:p>
        </p:txBody>
      </p:sp>
      <p:sp>
        <p:nvSpPr>
          <p:cNvPr id="25" name="Corchetes 24">
            <a:extLst>
              <a:ext uri="{FF2B5EF4-FFF2-40B4-BE49-F238E27FC236}">
                <a16:creationId xmlns:a16="http://schemas.microsoft.com/office/drawing/2014/main" id="{A26675F0-030C-4204-8458-D5B058E146FE}"/>
              </a:ext>
            </a:extLst>
          </p:cNvPr>
          <p:cNvSpPr/>
          <p:nvPr/>
        </p:nvSpPr>
        <p:spPr>
          <a:xfrm>
            <a:off x="8757920" y="1209040"/>
            <a:ext cx="2804160" cy="4886960"/>
          </a:xfrm>
          <a:prstGeom prst="bracketPair">
            <a:avLst>
              <a:gd name="adj" fmla="val 82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8418F2A-1A6F-4F69-8B5D-1BB5FD8EA155}"/>
              </a:ext>
            </a:extLst>
          </p:cNvPr>
          <p:cNvSpPr/>
          <p:nvPr/>
        </p:nvSpPr>
        <p:spPr>
          <a:xfrm>
            <a:off x="8849360" y="3561861"/>
            <a:ext cx="1805964" cy="1220346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Globo: flecha izquierda 26">
            <a:extLst>
              <a:ext uri="{FF2B5EF4-FFF2-40B4-BE49-F238E27FC236}">
                <a16:creationId xmlns:a16="http://schemas.microsoft.com/office/drawing/2014/main" id="{0E29F561-3207-42DD-B698-878AE77CED39}"/>
              </a:ext>
            </a:extLst>
          </p:cNvPr>
          <p:cNvSpPr/>
          <p:nvPr/>
        </p:nvSpPr>
        <p:spPr>
          <a:xfrm>
            <a:off x="10083593" y="3561861"/>
            <a:ext cx="1940241" cy="1268090"/>
          </a:xfrm>
          <a:prstGeom prst="leftArrowCallout">
            <a:avLst>
              <a:gd name="adj1" fmla="val 58153"/>
              <a:gd name="adj2" fmla="val 43234"/>
              <a:gd name="adj3" fmla="val 17541"/>
              <a:gd name="adj4" fmla="val 85162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Destino del Resultado y Modo de Operación (</a:t>
            </a:r>
            <a:r>
              <a:rPr lang="es-PE" sz="1400" dirty="0" err="1"/>
              <a:t>Append</a:t>
            </a:r>
            <a:r>
              <a:rPr lang="es-PE" sz="1400" dirty="0"/>
              <a:t>, </a:t>
            </a:r>
            <a:r>
              <a:rPr lang="es-PE" sz="1400" dirty="0" err="1"/>
              <a:t>Upsert</a:t>
            </a:r>
            <a:r>
              <a:rPr lang="es-PE" sz="1400" dirty="0"/>
              <a:t>, …)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894E487E-3CB3-4E2E-9894-68102FA5586E}"/>
              </a:ext>
            </a:extLst>
          </p:cNvPr>
          <p:cNvSpPr/>
          <p:nvPr/>
        </p:nvSpPr>
        <p:spPr>
          <a:xfrm>
            <a:off x="8897644" y="5252796"/>
            <a:ext cx="1549639" cy="76200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Globo: flecha izquierda 28">
            <a:extLst>
              <a:ext uri="{FF2B5EF4-FFF2-40B4-BE49-F238E27FC236}">
                <a16:creationId xmlns:a16="http://schemas.microsoft.com/office/drawing/2014/main" id="{D4D2C6AB-704C-415E-856E-482C79F6DA4C}"/>
              </a:ext>
            </a:extLst>
          </p:cNvPr>
          <p:cNvSpPr/>
          <p:nvPr/>
        </p:nvSpPr>
        <p:spPr>
          <a:xfrm>
            <a:off x="10312400" y="5195787"/>
            <a:ext cx="1767840" cy="87376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06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Identidad según Modo de Operación</a:t>
            </a:r>
          </a:p>
        </p:txBody>
      </p:sp>
      <p:sp>
        <p:nvSpPr>
          <p:cNvPr id="30" name="Flecha: hacia abajo 29">
            <a:extLst>
              <a:ext uri="{FF2B5EF4-FFF2-40B4-BE49-F238E27FC236}">
                <a16:creationId xmlns:a16="http://schemas.microsoft.com/office/drawing/2014/main" id="{27552F10-6C69-4372-98E3-500E1BFB5546}"/>
              </a:ext>
            </a:extLst>
          </p:cNvPr>
          <p:cNvSpPr/>
          <p:nvPr/>
        </p:nvSpPr>
        <p:spPr>
          <a:xfrm>
            <a:off x="6297972" y="3232322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5E5E2D47-484B-4B08-9577-D53391CCD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Operación directa con Servicio de Datos</a:t>
            </a:r>
          </a:p>
        </p:txBody>
      </p:sp>
    </p:spTree>
    <p:extLst>
      <p:ext uri="{BB962C8B-B14F-4D97-AF65-F5344CB8AC3E}">
        <p14:creationId xmlns:p14="http://schemas.microsoft.com/office/powerpoint/2010/main" val="244256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6C52968-0879-412A-BBF9-5213C955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336"/>
            <a:ext cx="12192000" cy="5646687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493DEDC2-1F95-43FE-BEF6-C4E48EC5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PE" sz="3600" dirty="0"/>
              <a:t>Ejecución de Código JavaScript (</a:t>
            </a:r>
            <a:r>
              <a:rPr lang="es-PE" sz="3600" dirty="0" err="1"/>
              <a:t>Sandboxing</a:t>
            </a:r>
            <a:r>
              <a:rPr lang="es-PE" sz="3600" dirty="0"/>
              <a:t>: </a:t>
            </a:r>
            <a:r>
              <a:rPr lang="es-PE" sz="3600" dirty="0" err="1"/>
              <a:t>Deno</a:t>
            </a:r>
            <a:r>
              <a:rPr lang="es-PE" sz="3600" dirty="0"/>
              <a:t>)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DB6FEF1-2CCA-497B-8641-06AB15E4FCD7}"/>
              </a:ext>
            </a:extLst>
          </p:cNvPr>
          <p:cNvSpPr/>
          <p:nvPr/>
        </p:nvSpPr>
        <p:spPr>
          <a:xfrm>
            <a:off x="5822029" y="4382462"/>
            <a:ext cx="1348127" cy="63062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EAE8226C-2C2B-4067-9CF1-4912C0E83C35}"/>
              </a:ext>
            </a:extLst>
          </p:cNvPr>
          <p:cNvCxnSpPr>
            <a:cxnSpLocks/>
            <a:stCxn id="4" idx="2"/>
            <a:endCxn id="6" idx="4"/>
          </p:cNvCxnSpPr>
          <p:nvPr/>
        </p:nvCxnSpPr>
        <p:spPr>
          <a:xfrm rot="16200000" flipH="1">
            <a:off x="7596550" y="3912626"/>
            <a:ext cx="1315894" cy="3516808"/>
          </a:xfrm>
          <a:prstGeom prst="bentConnector3">
            <a:avLst>
              <a:gd name="adj1" fmla="val 117372"/>
            </a:avLst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DED01B8A-8F0D-4B80-B1AF-6D0B4B5224B2}"/>
              </a:ext>
            </a:extLst>
          </p:cNvPr>
          <p:cNvSpPr>
            <a:spLocks noChangeAspect="1"/>
          </p:cNvSpPr>
          <p:nvPr/>
        </p:nvSpPr>
        <p:spPr>
          <a:xfrm>
            <a:off x="9958901" y="6220977"/>
            <a:ext cx="108000" cy="108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orchetes 11">
            <a:extLst>
              <a:ext uri="{FF2B5EF4-FFF2-40B4-BE49-F238E27FC236}">
                <a16:creationId xmlns:a16="http://schemas.microsoft.com/office/drawing/2014/main" id="{63D088A7-2472-4142-B4ED-E9C39356C7F1}"/>
              </a:ext>
            </a:extLst>
          </p:cNvPr>
          <p:cNvSpPr/>
          <p:nvPr/>
        </p:nvSpPr>
        <p:spPr>
          <a:xfrm>
            <a:off x="7955280" y="3429000"/>
            <a:ext cx="4145280" cy="3042920"/>
          </a:xfrm>
          <a:prstGeom prst="bracketPair">
            <a:avLst>
              <a:gd name="adj" fmla="val 82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Globo: flecha hacia abajo 13">
            <a:extLst>
              <a:ext uri="{FF2B5EF4-FFF2-40B4-BE49-F238E27FC236}">
                <a16:creationId xmlns:a16="http://schemas.microsoft.com/office/drawing/2014/main" id="{83A72421-5E48-44C8-81F3-05DD87C34A07}"/>
              </a:ext>
            </a:extLst>
          </p:cNvPr>
          <p:cNvSpPr/>
          <p:nvPr/>
        </p:nvSpPr>
        <p:spPr>
          <a:xfrm>
            <a:off x="8483600" y="2743200"/>
            <a:ext cx="2034101" cy="1069858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7342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Este código corre en un “Sandbox” protegido sobre </a:t>
            </a:r>
            <a:r>
              <a:rPr lang="es-P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Deno</a:t>
            </a:r>
            <a:r>
              <a:rPr lang="es-PE" sz="1400" dirty="0"/>
              <a:t> </a:t>
            </a:r>
          </a:p>
        </p:txBody>
      </p:sp>
      <p:sp>
        <p:nvSpPr>
          <p:cNvPr id="15" name="Globo: flecha hacia abajo 14">
            <a:extLst>
              <a:ext uri="{FF2B5EF4-FFF2-40B4-BE49-F238E27FC236}">
                <a16:creationId xmlns:a16="http://schemas.microsoft.com/office/drawing/2014/main" id="{1B8FA7C6-D3BC-46DC-AE3F-D2258A404279}"/>
              </a:ext>
            </a:extLst>
          </p:cNvPr>
          <p:cNvSpPr/>
          <p:nvPr/>
        </p:nvSpPr>
        <p:spPr>
          <a:xfrm>
            <a:off x="10594779" y="2370796"/>
            <a:ext cx="1505781" cy="1069858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7342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Desarrollo de Código Asistido por Agente AI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D7DC779-2E63-4DC3-817C-EBA6B55A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90" y="3190191"/>
            <a:ext cx="4594420" cy="3281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5472ACE3-A118-44F8-8187-497C5EC51CCB}"/>
              </a:ext>
            </a:extLst>
          </p:cNvPr>
          <p:cNvSpPr/>
          <p:nvPr/>
        </p:nvSpPr>
        <p:spPr>
          <a:xfrm rot="5400000">
            <a:off x="5348890" y="4527818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666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A541C-F17E-4698-82CB-684A7FBF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Servicio de Notificación por Correo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0B2DB4-CF3D-493A-B690-DF47F5B77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445189"/>
            <a:ext cx="11083636" cy="5146181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82CBC00-66F8-4E3E-A165-5B32531979AC}"/>
              </a:ext>
            </a:extLst>
          </p:cNvPr>
          <p:cNvSpPr/>
          <p:nvPr/>
        </p:nvSpPr>
        <p:spPr>
          <a:xfrm>
            <a:off x="6473046" y="3849125"/>
            <a:ext cx="1244972" cy="60001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A2B76222-ACD7-49FF-A17F-543BA868C883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rot="5400000" flipH="1" flipV="1">
            <a:off x="7504942" y="1442767"/>
            <a:ext cx="1996948" cy="2815769"/>
          </a:xfrm>
          <a:prstGeom prst="bentConnector3">
            <a:avLst>
              <a:gd name="adj1" fmla="val 121623"/>
            </a:avLst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55593A77-EE79-4374-805F-96D056C122D5}"/>
              </a:ext>
            </a:extLst>
          </p:cNvPr>
          <p:cNvSpPr>
            <a:spLocks noChangeAspect="1"/>
          </p:cNvSpPr>
          <p:nvPr/>
        </p:nvSpPr>
        <p:spPr>
          <a:xfrm>
            <a:off x="9857301" y="1852177"/>
            <a:ext cx="108000" cy="108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orchetes 10">
            <a:extLst>
              <a:ext uri="{FF2B5EF4-FFF2-40B4-BE49-F238E27FC236}">
                <a16:creationId xmlns:a16="http://schemas.microsoft.com/office/drawing/2014/main" id="{B3B8C601-C2D2-416C-B773-A9BE15BE2418}"/>
              </a:ext>
            </a:extLst>
          </p:cNvPr>
          <p:cNvSpPr/>
          <p:nvPr/>
        </p:nvSpPr>
        <p:spPr>
          <a:xfrm>
            <a:off x="7779756" y="1906176"/>
            <a:ext cx="3721364" cy="4701009"/>
          </a:xfrm>
          <a:prstGeom prst="bracketPair">
            <a:avLst>
              <a:gd name="adj" fmla="val 445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4C1E3D5-B4A5-472C-B483-1D031CBDBBCC}"/>
              </a:ext>
            </a:extLst>
          </p:cNvPr>
          <p:cNvSpPr/>
          <p:nvPr/>
        </p:nvSpPr>
        <p:spPr>
          <a:xfrm>
            <a:off x="7835206" y="2157916"/>
            <a:ext cx="3533833" cy="1347284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Globo: flecha hacia abajo 15">
            <a:extLst>
              <a:ext uri="{FF2B5EF4-FFF2-40B4-BE49-F238E27FC236}">
                <a16:creationId xmlns:a16="http://schemas.microsoft.com/office/drawing/2014/main" id="{5A62E72E-E9CF-4EFA-BA72-2AC891A98AE2}"/>
              </a:ext>
            </a:extLst>
          </p:cNvPr>
          <p:cNvSpPr/>
          <p:nvPr/>
        </p:nvSpPr>
        <p:spPr>
          <a:xfrm>
            <a:off x="10081370" y="1322227"/>
            <a:ext cx="1117600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Conexión Global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9AFBF89-27CE-409F-8C86-5D5DF62404BA}"/>
              </a:ext>
            </a:extLst>
          </p:cNvPr>
          <p:cNvSpPr/>
          <p:nvPr/>
        </p:nvSpPr>
        <p:spPr>
          <a:xfrm>
            <a:off x="7835207" y="5351850"/>
            <a:ext cx="2815770" cy="1159281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Globo: flecha izquierda 17">
            <a:extLst>
              <a:ext uri="{FF2B5EF4-FFF2-40B4-BE49-F238E27FC236}">
                <a16:creationId xmlns:a16="http://schemas.microsoft.com/office/drawing/2014/main" id="{84376CBF-E911-44B1-AC81-EB1F6E053B31}"/>
              </a:ext>
            </a:extLst>
          </p:cNvPr>
          <p:cNvSpPr/>
          <p:nvPr/>
        </p:nvSpPr>
        <p:spPr>
          <a:xfrm>
            <a:off x="9987208" y="5423230"/>
            <a:ext cx="2094619" cy="101652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06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1400" dirty="0"/>
              <a:t>Contenido estático y dinámico (plantilla): asunto y cuerpo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9F7DF23-9887-41E2-974C-BB219805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58" y="4619168"/>
            <a:ext cx="4318000" cy="2159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C66F7809-07A2-4844-818B-88008F87EE62}"/>
              </a:ext>
            </a:extLst>
          </p:cNvPr>
          <p:cNvSpPr/>
          <p:nvPr/>
        </p:nvSpPr>
        <p:spPr>
          <a:xfrm>
            <a:off x="6836451" y="4494589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40B4385-2C9A-4B08-89E3-12700D98A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018" y="4619168"/>
            <a:ext cx="4319349" cy="2159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B0F47220-AB11-4E3B-B473-587C8E782E8A}"/>
              </a:ext>
            </a:extLst>
          </p:cNvPr>
          <p:cNvSpPr/>
          <p:nvPr/>
        </p:nvSpPr>
        <p:spPr>
          <a:xfrm rot="16200000">
            <a:off x="7414478" y="5544939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810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77BC4-5489-4EA9-825E-34D13795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Integración </a:t>
            </a:r>
            <a:r>
              <a:rPr lang="es-PE" dirty="0" err="1"/>
              <a:t>Webhook</a:t>
            </a:r>
            <a:r>
              <a:rPr lang="es-PE" dirty="0"/>
              <a:t> – servicio Google Spaces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6EF675-72C8-4000-B1F9-016453E5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439466"/>
            <a:ext cx="11083636" cy="5137306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E278B5D-C44B-4756-9F05-5F08F1239231}"/>
              </a:ext>
            </a:extLst>
          </p:cNvPr>
          <p:cNvSpPr/>
          <p:nvPr/>
        </p:nvSpPr>
        <p:spPr>
          <a:xfrm>
            <a:off x="6473045" y="4915065"/>
            <a:ext cx="1244972" cy="60001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E0E34F58-1DE0-4128-97DE-E60B8C0E5AA6}"/>
              </a:ext>
            </a:extLst>
          </p:cNvPr>
          <p:cNvCxnSpPr>
            <a:cxnSpLocks/>
            <a:stCxn id="4" idx="3"/>
            <a:endCxn id="6" idx="4"/>
          </p:cNvCxnSpPr>
          <p:nvPr/>
        </p:nvCxnSpPr>
        <p:spPr>
          <a:xfrm flipV="1">
            <a:off x="7718017" y="4062119"/>
            <a:ext cx="2247284" cy="1152953"/>
          </a:xfrm>
          <a:prstGeom prst="bentConnector2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95EBF26D-CCF6-49CA-81B6-B3CFE376258D}"/>
              </a:ext>
            </a:extLst>
          </p:cNvPr>
          <p:cNvSpPr>
            <a:spLocks noChangeAspect="1"/>
          </p:cNvSpPr>
          <p:nvPr/>
        </p:nvSpPr>
        <p:spPr>
          <a:xfrm>
            <a:off x="9911301" y="3954119"/>
            <a:ext cx="108000" cy="108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A15CDCD-9D25-43A4-AE8F-A59A3A7BB530}"/>
              </a:ext>
            </a:extLst>
          </p:cNvPr>
          <p:cNvSpPr/>
          <p:nvPr/>
        </p:nvSpPr>
        <p:spPr>
          <a:xfrm>
            <a:off x="7835206" y="2590800"/>
            <a:ext cx="3665914" cy="914400"/>
          </a:xfrm>
          <a:prstGeom prst="roundRect">
            <a:avLst>
              <a:gd name="adj" fmla="val 1294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Globo: flecha hacia abajo 7">
            <a:extLst>
              <a:ext uri="{FF2B5EF4-FFF2-40B4-BE49-F238E27FC236}">
                <a16:creationId xmlns:a16="http://schemas.microsoft.com/office/drawing/2014/main" id="{B22CD9E4-F6AD-4533-98B1-715C11F321B2}"/>
              </a:ext>
            </a:extLst>
          </p:cNvPr>
          <p:cNvSpPr/>
          <p:nvPr/>
        </p:nvSpPr>
        <p:spPr>
          <a:xfrm>
            <a:off x="9377680" y="1909141"/>
            <a:ext cx="2011679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 err="1"/>
              <a:t>Webhook</a:t>
            </a:r>
            <a:r>
              <a:rPr lang="es-PE" sz="1400" dirty="0"/>
              <a:t> destino (mejorar seguridad)</a:t>
            </a: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4296F8FF-B2F4-48C2-A884-05E9324539ED}"/>
              </a:ext>
            </a:extLst>
          </p:cNvPr>
          <p:cNvSpPr/>
          <p:nvPr/>
        </p:nvSpPr>
        <p:spPr>
          <a:xfrm rot="10800000">
            <a:off x="6836451" y="4494589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orchetes 13">
            <a:extLst>
              <a:ext uri="{FF2B5EF4-FFF2-40B4-BE49-F238E27FC236}">
                <a16:creationId xmlns:a16="http://schemas.microsoft.com/office/drawing/2014/main" id="{F412E388-2A5A-49C6-96EB-F129F9856701}"/>
              </a:ext>
            </a:extLst>
          </p:cNvPr>
          <p:cNvSpPr/>
          <p:nvPr/>
        </p:nvSpPr>
        <p:spPr>
          <a:xfrm>
            <a:off x="7741920" y="1906176"/>
            <a:ext cx="3830320" cy="2047943"/>
          </a:xfrm>
          <a:prstGeom prst="bracketPair">
            <a:avLst>
              <a:gd name="adj" fmla="val 445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35FBE05-F24A-49E1-A9DC-88F44394D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414" y="920115"/>
            <a:ext cx="5696745" cy="3448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A1A91DF-9CBA-4AF4-A63F-221D3F6FD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764" y="4835356"/>
            <a:ext cx="3637163" cy="15120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B344D53B-EE7C-4B03-9D74-ED58827491DA}"/>
              </a:ext>
            </a:extLst>
          </p:cNvPr>
          <p:cNvSpPr/>
          <p:nvPr/>
        </p:nvSpPr>
        <p:spPr>
          <a:xfrm>
            <a:off x="8315592" y="4464171"/>
            <a:ext cx="518160" cy="30323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Globo: flecha hacia abajo 17">
            <a:extLst>
              <a:ext uri="{FF2B5EF4-FFF2-40B4-BE49-F238E27FC236}">
                <a16:creationId xmlns:a16="http://schemas.microsoft.com/office/drawing/2014/main" id="{AAD4DF05-3E64-42D8-8BCD-8C1E7D895385}"/>
              </a:ext>
            </a:extLst>
          </p:cNvPr>
          <p:cNvSpPr/>
          <p:nvPr/>
        </p:nvSpPr>
        <p:spPr>
          <a:xfrm>
            <a:off x="10019301" y="4158589"/>
            <a:ext cx="2011679" cy="9144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164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Mensaje Recibido en Google Spaces</a:t>
            </a:r>
          </a:p>
        </p:txBody>
      </p:sp>
    </p:spTree>
    <p:extLst>
      <p:ext uri="{BB962C8B-B14F-4D97-AF65-F5344CB8AC3E}">
        <p14:creationId xmlns:p14="http://schemas.microsoft.com/office/powerpoint/2010/main" val="4464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A50CA-5229-4958-A450-36CB109F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Historial de Ejecuciones – Visualización de Logs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057309-5856-4245-9616-42810FC9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51" y="1260711"/>
            <a:ext cx="11371698" cy="531193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B7DD1CF-B56F-48E0-8062-189AC3B4B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75172"/>
            <a:ext cx="4155697" cy="5081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180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E444E-1FAB-48CB-AF80-48E4F512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LLM configurados para Agentes AI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31124E-B32D-4F20-95FD-ADD84BDD3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144116"/>
            <a:ext cx="11083636" cy="5463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rchetes 3">
            <a:extLst>
              <a:ext uri="{FF2B5EF4-FFF2-40B4-BE49-F238E27FC236}">
                <a16:creationId xmlns:a16="http://schemas.microsoft.com/office/drawing/2014/main" id="{5EACDF77-FEAF-48DC-8803-328536E0D7DE}"/>
              </a:ext>
            </a:extLst>
          </p:cNvPr>
          <p:cNvSpPr/>
          <p:nvPr/>
        </p:nvSpPr>
        <p:spPr>
          <a:xfrm>
            <a:off x="2680462" y="5039360"/>
            <a:ext cx="8536177" cy="1480711"/>
          </a:xfrm>
          <a:prstGeom prst="bracketPair">
            <a:avLst>
              <a:gd name="adj" fmla="val 445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Globo: flecha hacia abajo 4">
            <a:extLst>
              <a:ext uri="{FF2B5EF4-FFF2-40B4-BE49-F238E27FC236}">
                <a16:creationId xmlns:a16="http://schemas.microsoft.com/office/drawing/2014/main" id="{ABA840FD-754F-4681-960C-555BAF36FC5B}"/>
              </a:ext>
            </a:extLst>
          </p:cNvPr>
          <p:cNvSpPr/>
          <p:nvPr/>
        </p:nvSpPr>
        <p:spPr>
          <a:xfrm>
            <a:off x="4836160" y="4429760"/>
            <a:ext cx="2011679" cy="10668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021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Escenarios de Usos de LLM dentro de la Plataforma</a:t>
            </a:r>
          </a:p>
        </p:txBody>
      </p:sp>
    </p:spTree>
    <p:extLst>
      <p:ext uri="{BB962C8B-B14F-4D97-AF65-F5344CB8AC3E}">
        <p14:creationId xmlns:p14="http://schemas.microsoft.com/office/powerpoint/2010/main" val="263048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647E0-B025-4C28-AB35-40FF73A1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Uso de Agente IA para generar código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825511-8DDE-40C4-8BB9-3925D73D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955461"/>
            <a:ext cx="11083636" cy="54753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C82162C-70AD-42B9-B364-0CA8B6132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80" y="5704522"/>
            <a:ext cx="5162510" cy="1019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69DFA80-BA79-4F63-9C88-1554A6025441}"/>
              </a:ext>
            </a:extLst>
          </p:cNvPr>
          <p:cNvSpPr/>
          <p:nvPr/>
        </p:nvSpPr>
        <p:spPr>
          <a:xfrm>
            <a:off x="10753988" y="3342640"/>
            <a:ext cx="716652" cy="3048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C36F8C70-53B1-434D-92CE-812A95DCF44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7083469" y="1713433"/>
            <a:ext cx="2094839" cy="596285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EFCDADF4-4D61-4796-B32E-D9FFA63D7113}"/>
              </a:ext>
            </a:extLst>
          </p:cNvPr>
          <p:cNvSpPr>
            <a:spLocks noChangeAspect="1"/>
          </p:cNvSpPr>
          <p:nvPr/>
        </p:nvSpPr>
        <p:spPr>
          <a:xfrm>
            <a:off x="5095461" y="5742279"/>
            <a:ext cx="108000" cy="108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95C9C786-5218-420A-A7F5-1046B0DFE021}"/>
              </a:ext>
            </a:extLst>
          </p:cNvPr>
          <p:cNvSpPr/>
          <p:nvPr/>
        </p:nvSpPr>
        <p:spPr>
          <a:xfrm rot="16010301">
            <a:off x="6589401" y="6089432"/>
            <a:ext cx="518160" cy="303237"/>
          </a:xfrm>
          <a:prstGeom prst="downArrow">
            <a:avLst/>
          </a:prstGeom>
          <a:solidFill>
            <a:srgbClr val="D8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PE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F1BE9309-E9C8-42BD-B233-A5031C127CB8}"/>
              </a:ext>
            </a:extLst>
          </p:cNvPr>
          <p:cNvSpPr/>
          <p:nvPr/>
        </p:nvSpPr>
        <p:spPr>
          <a:xfrm rot="10800000">
            <a:off x="9810121" y="5552904"/>
            <a:ext cx="518160" cy="303237"/>
          </a:xfrm>
          <a:prstGeom prst="downArrow">
            <a:avLst/>
          </a:prstGeom>
          <a:solidFill>
            <a:srgbClr val="D8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842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FD2A5-F1BD-4F0E-B0DB-82193AB49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PoC – Flujos de Integración (Data – Servicios)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D0F40A-5C10-4017-B609-DDA2E8D78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Área de Desarrollo</a:t>
            </a:r>
          </a:p>
          <a:p>
            <a:r>
              <a:rPr lang="es-PE" dirty="0"/>
              <a:t>2026-05-31</a:t>
            </a:r>
          </a:p>
        </p:txBody>
      </p:sp>
    </p:spTree>
    <p:extLst>
      <p:ext uri="{BB962C8B-B14F-4D97-AF65-F5344CB8AC3E}">
        <p14:creationId xmlns:p14="http://schemas.microsoft.com/office/powerpoint/2010/main" val="16583124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242</Words>
  <Application>Microsoft Office PowerPoint</Application>
  <PresentationFormat>Panorámica</PresentationFormat>
  <Paragraphs>40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PoC – Flujos de Integración (Data – Servicios)</vt:lpstr>
      <vt:lpstr>Flujos de Integración (Data, Servicios)</vt:lpstr>
      <vt:lpstr>Tipos de Diagramas de Integración y Herramientas</vt:lpstr>
      <vt:lpstr>Herramientas Personalizadas</vt:lpstr>
      <vt:lpstr>Conexiones Globales a Fuentes (API, BD, Mail, …)</vt:lpstr>
      <vt:lpstr>Ejemplo: Flujo Integración (Datos – Servicios)</vt:lpstr>
      <vt:lpstr>Extracción de datos directa con Tabla</vt:lpstr>
      <vt:lpstr>Extracción de Datos con Sentencias SQL</vt:lpstr>
      <vt:lpstr>Combinar/Unir dataset por campo clave común</vt:lpstr>
      <vt:lpstr>Operación directa con Servicio de Datos</vt:lpstr>
      <vt:lpstr>Ejecución de Código JavaScript (Sandboxing: Deno)</vt:lpstr>
      <vt:lpstr>Servicio de Notificación por Correo</vt:lpstr>
      <vt:lpstr>Integración Webhook – servicio Google Spaces</vt:lpstr>
      <vt:lpstr>Historial de Ejecuciones – Visualización de Logs</vt:lpstr>
      <vt:lpstr>LLM configurados para Agentes AI</vt:lpstr>
      <vt:lpstr>Uso de Agente IA para generar código</vt:lpstr>
      <vt:lpstr>PoC – Flujos de Integración (Data – Servicios)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– Flujos de Integración (Data – Servicios)</dc:title>
  <dc:creator>Ilver Anache</dc:creator>
  <cp:lastModifiedBy>Ilver Anache</cp:lastModifiedBy>
  <cp:revision>20</cp:revision>
  <dcterms:created xsi:type="dcterms:W3CDTF">2026-05-31T04:11:06Z</dcterms:created>
  <dcterms:modified xsi:type="dcterms:W3CDTF">2026-05-31T05:48:29Z</dcterms:modified>
</cp:coreProperties>
</file>